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embedTrueTypeFonts="1">
  <p:sldMasterIdLst>
    <p:sldMasterId id="2147483648" r:id="rId1"/>
  </p:sldMasterIdLst>
  <p:sldIdLst>
    <p:sldId id="256" r:id="rId6"/>
  </p:sldIdLst>
  <p:sldSz cx="9144000" cy="5143500" type="custom"/>
  <p:notesSz cx="6858000" cy="9144000"/>
  <p:embeddedFontLst>
    <p:embeddedFont>
      <p:font typeface="New Computer Modern"/>
      <p:regular r:id="rId7"/>
      <p:bold r:id="rId8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1.fntdata"/><Relationship Id="rId8" Type="http://schemas.openxmlformats.org/officeDocument/2006/relationships/font" Target="fonts/font2.fntdata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85800" y="457200"/>
            <a:ext cx="7772400" cy="1143000"/>
          </a:xfrm>
        </p:spPr>
        <p:txBody>
          <a:bodyPr wrap="square"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 wrap="square"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85800" y="457200"/>
            <a:ext cx="7772400" cy="1143000"/>
          </a:xfrm>
        </p:spPr>
        <p:txBody>
          <a:bodyPr wrap="square"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 wrap="square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18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algn="l">
        <a:defRPr sz="1800">
          <a:solidFill>
            <a:schemeClr val="tx1"/>
          </a:solidFill>
          <a:latin typeface="Arial"/>
          <a:ea typeface="Arial"/>
          <a:cs typeface="Arial"/>
        </a:defRPr>
      </a:lvl1pPr>
    </p:bodyStyle>
    <p:otherStyle>
      <a:lvl1pPr algn="l">
        <a:defRPr sz="1800">
          <a:solidFill>
            <a:schemeClr val="tx1"/>
          </a:solidFill>
          <a:latin typeface="Arial"/>
          <a:ea typeface="Arial"/>
          <a:cs typeface="Arial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m="http://schemas.openxmlformats.org/officeDocument/2006/math" xmlns:a14="http://schemas.microsoft.com/office/drawing/2010/main" mc:Ignorable="a14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 idx="0"/>
          </p:nvPr>
        </p:nvSpPr>
        <p:spPr>
          <a:xfrm>
            <a:off x="482600" y="235965"/>
            <a:ext cx="4414334" cy="4549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 horzOverflow="overflow" vertOverflow="overflow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426557"/>
                </a:solidFill>
                <a:latin typeface="New Computer Modern"/>
                <a:ea typeface="New Computer Modern"/>
                <a:cs typeface="New Computer Modern"/>
              </a:rPr>
              <a:t>Documents that travel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482600" y="764710"/>
            <a:ext cx="7807020" cy="907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 horzOverflow="overflow" vertOverflow="overflow">
            <a:noAutofit/>
          </a:bodyPr>
          <a:lstStyle/>
          <a:p>
            <a:pPr algn="l">
              <a:lnSpc>
                <a:spcPts val="5476"/>
              </a:lnSpc>
            </a:pPr>
            <a:r>
              <a:rPr lang="en-US" sz="1400">
                <a:solidFill>
                  <a:srgbClr val="243732"/>
                </a:solidFill>
                <a:latin typeface="New Computer Modern"/>
                <a:ea typeface="New Computer Modern"/>
                <a:cs typeface="New Computer Modern"/>
              </a:rPr>
              <a:t>Write the content once. Keep the structure when the document moves.</a:t>
            </a:r>
            <a:br/>
            <a:r>
              <a:rPr lang="en-US" sz="1400">
                <a:solidFill>
                  <a:srgbClr val="243732"/>
                </a:solidFill>
                <a:latin typeface="New Computer Modern"/>
                <a:ea typeface="New Computer Modern"/>
                <a:cs typeface="New Computer Modern"/>
              </a:rPr>
              <a:t>A research brief needs headings, tables, and equations. A review deck needs a clear canvas with text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2600" y="1145050"/>
            <a:ext cx="3540250" cy="2729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none" horzOverflow="overflow" vertOverflow="overflow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b="1">
                <a:solidFill>
                  <a:srgbClr val="243732"/>
                </a:solidFill>
                <a:latin typeface="New Computer Modern"/>
                <a:ea typeface="New Computer Modern"/>
                <a:cs typeface="New Computer Modern"/>
              </a:rPr>
              <a:t>One source, two conversations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2600" y="1652719"/>
            <a:ext cx="1254439" cy="2122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none" horzOverflow="overflow" vertOverflow="overflow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243732"/>
                </a:solidFill>
                <a:latin typeface="New Computer Modern"/>
                <a:ea typeface="New Computer Modern"/>
                <a:cs typeface="New Computer Modern"/>
              </a:rPr>
              <a:t>people can edit.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82600" y="2043879"/>
          <a:ext cx="8178800" cy="9985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89400"/>
                <a:gridCol w="4089400"/>
              </a:tblGrid>
              <a:tr h="333146">
                <a:tc>
                  <a:txBody>
                    <a:bodyPr lIns="0" tIns="0" rIns="0" bIns="0" anchor="t" wrap="square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rgbClr val="243732"/>
                          </a:solidFill>
                          <a:latin typeface="New Computer Modern"/>
                          <a:ea typeface="New Computer Modern"/>
                          <a:cs typeface="New Computer Modern"/>
                        </a:rPr>
                        <a:t>Document</a:t>
                      </a:r>
                    </a:p>
                  </a:txBody>
                  <a:tcPr marL="114300" marT="114300" marR="114300" marB="114300">
                    <a:lnL w="6350" cap="flat">
                      <a:solidFill>
                        <a:srgbClr val="CBD5D5"/>
                      </a:solidFill>
                    </a:lnL>
                    <a:lnR w="6350" cap="flat">
                      <a:solidFill>
                        <a:srgbClr val="CBD5D5"/>
                      </a:solidFill>
                    </a:lnR>
                    <a:lnT w="6350" cap="flat">
                      <a:solidFill>
                        <a:srgbClr val="CBD5D5"/>
                      </a:solidFill>
                    </a:lnT>
                    <a:lnB w="6350" cap="flat">
                      <a:solidFill>
                        <a:srgbClr val="CBD5D5"/>
                      </a:solidFill>
                    </a:lnB>
                    <a:solidFill>
                      <a:srgbClr val="E4EEEB"/>
                    </a:solidFill>
                  </a:tcPr>
                </a:tc>
                <a:tc>
                  <a:txBody>
                    <a:bodyPr lIns="0" tIns="0" rIns="0" bIns="0" anchor="t" wrap="square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rgbClr val="243732"/>
                          </a:solidFill>
                          <a:latin typeface="New Computer Modern"/>
                          <a:ea typeface="New Computer Modern"/>
                          <a:cs typeface="New Computer Modern"/>
                        </a:rPr>
                        <a:t>What stays useful</a:t>
                      </a:r>
                    </a:p>
                  </a:txBody>
                  <a:tcPr marL="114300" marT="114300" marR="114300" marB="114300">
                    <a:lnL w="6350" cap="flat">
                      <a:solidFill>
                        <a:srgbClr val="CBD5D5"/>
                      </a:solidFill>
                    </a:lnL>
                    <a:lnR w="6350" cap="flat">
                      <a:solidFill>
                        <a:srgbClr val="CBD5D5"/>
                      </a:solidFill>
                    </a:lnR>
                    <a:lnT w="6350" cap="flat">
                      <a:solidFill>
                        <a:srgbClr val="CBD5D5"/>
                      </a:solidFill>
                    </a:lnT>
                    <a:lnB w="6350" cap="flat">
                      <a:solidFill>
                        <a:srgbClr val="CBD5D5"/>
                      </a:solidFill>
                    </a:lnB>
                    <a:solidFill>
                      <a:srgbClr val="E4EEEB"/>
                    </a:solidFill>
                  </a:tcPr>
                </a:tc>
              </a:tr>
              <a:tr h="332689">
                <a:tc>
                  <a:txBody>
                    <a:bodyPr lIns="0" tIns="0" rIns="0" bIns="0" anchor="t" wrap="square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243732"/>
                          </a:solidFill>
                          <a:latin typeface="New Computer Modern"/>
                          <a:ea typeface="New Computer Modern"/>
                          <a:cs typeface="New Computer Modern"/>
                        </a:rPr>
                        <a:t>Word brief</a:t>
                      </a:r>
                    </a:p>
                  </a:txBody>
                  <a:tcPr marL="114300" marT="114300" marR="114300" marB="114300">
                    <a:lnL w="6350" cap="flat">
                      <a:solidFill>
                        <a:srgbClr val="CBD5D5"/>
                      </a:solidFill>
                    </a:lnL>
                    <a:lnR w="6350" cap="flat">
                      <a:solidFill>
                        <a:srgbClr val="CBD5D5"/>
                      </a:solidFill>
                    </a:lnR>
                    <a:lnT w="6350" cap="flat">
                      <a:solidFill>
                        <a:srgbClr val="CBD5D5"/>
                      </a:solidFill>
                    </a:lnT>
                    <a:lnB w="6350" cap="flat">
                      <a:solidFill>
                        <a:srgbClr val="CBD5D5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243732"/>
                          </a:solidFill>
                          <a:latin typeface="New Computer Modern"/>
                          <a:ea typeface="New Computer Modern"/>
                          <a:cs typeface="New Computer Modern"/>
                        </a:rPr>
                        <a:t>Headings and table cells</a:t>
                      </a:r>
                    </a:p>
                  </a:txBody>
                  <a:tcPr marL="114300" marT="114300" marR="114300" marB="114300">
                    <a:lnL w="6350" cap="flat">
                      <a:solidFill>
                        <a:srgbClr val="CBD5D5"/>
                      </a:solidFill>
                    </a:lnL>
                    <a:lnR w="6350" cap="flat">
                      <a:solidFill>
                        <a:srgbClr val="CBD5D5"/>
                      </a:solidFill>
                    </a:lnR>
                    <a:lnT w="6350" cap="flat">
                      <a:solidFill>
                        <a:srgbClr val="CBD5D5"/>
                      </a:solidFill>
                    </a:lnT>
                    <a:lnB w="6350" cap="flat">
                      <a:solidFill>
                        <a:srgbClr val="CBD5D5"/>
                      </a:solidFill>
                    </a:lnB>
                    <a:noFill/>
                  </a:tcPr>
                </a:tc>
              </a:tr>
              <a:tr h="332689">
                <a:tc>
                  <a:txBody>
                    <a:bodyPr lIns="0" tIns="0" rIns="0" bIns="0" anchor="t" wrap="square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243732"/>
                          </a:solidFill>
                          <a:latin typeface="New Computer Modern"/>
                          <a:ea typeface="New Computer Modern"/>
                          <a:cs typeface="New Computer Modern"/>
                        </a:rPr>
                        <a:t>PowerPoint deck</a:t>
                      </a:r>
                    </a:p>
                  </a:txBody>
                  <a:tcPr marL="114300" marT="114300" marR="114300" marB="114300">
                    <a:lnL w="6350" cap="flat">
                      <a:solidFill>
                        <a:srgbClr val="CBD5D5"/>
                      </a:solidFill>
                    </a:lnL>
                    <a:lnR w="6350" cap="flat">
                      <a:solidFill>
                        <a:srgbClr val="CBD5D5"/>
                      </a:solidFill>
                    </a:lnR>
                    <a:lnT w="6350" cap="flat">
                      <a:solidFill>
                        <a:srgbClr val="CBD5D5"/>
                      </a:solidFill>
                    </a:lnT>
                    <a:lnB w="6350" cap="flat">
                      <a:solidFill>
                        <a:srgbClr val="CBD5D5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243732"/>
                          </a:solidFill>
                          <a:latin typeface="New Computer Modern"/>
                          <a:ea typeface="New Computer Modern"/>
                          <a:cs typeface="New Computer Modern"/>
                        </a:rPr>
                        <a:t>Text and page geometry</a:t>
                      </a:r>
                    </a:p>
                  </a:txBody>
                  <a:tcPr marL="114300" marT="114300" marR="114300" marB="114300">
                    <a:lnL w="6350" cap="flat">
                      <a:solidFill>
                        <a:srgbClr val="CBD5D5"/>
                      </a:solidFill>
                    </a:lnL>
                    <a:lnR w="6350" cap="flat">
                      <a:solidFill>
                        <a:srgbClr val="CBD5D5"/>
                      </a:solidFill>
                    </a:lnR>
                    <a:lnT w="6350" cap="flat">
                      <a:solidFill>
                        <a:srgbClr val="CBD5D5"/>
                      </a:solidFill>
                    </a:lnT>
                    <a:lnB w="6350" cap="flat">
                      <a:solidFill>
                        <a:srgbClr val="CBD5D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482600" y="3199402"/>
            <a:ext cx="3307208" cy="2122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none" horzOverflow="overflow" vertOverflow="overflow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243732"/>
                </a:solidFill>
                <a:latin typeface="New Computer Modern"/>
                <a:ea typeface="New Computer Modern"/>
                <a:cs typeface="New Computer Modern"/>
              </a:rPr>
              <a:t>The equation stays part of the document:</a:t>
            </a:r>
          </a:p>
        </p:txBody>
      </p:sp>
      <p:sp>
        <p:nvSpPr>
          <p:cNvPr id="8" name="Math 8"/>
          <p:cNvSpPr txBox="1"/>
          <p:nvPr/>
        </p:nvSpPr>
        <p:spPr>
          <a:xfrm>
            <a:off x="4141188" y="3590562"/>
            <a:ext cx="861622" cy="4541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none" horzOverflow="overflow" vertOverflow="overflow">
            <a:noAutofit/>
          </a:bodyPr>
          <a:lstStyle/>
          <a:p>
            <a:pPr algn="l">
              <a:lnSpc>
                <a:spcPct val="100000"/>
              </a:lnSpc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m:t>𝑄</m:t>
                      </m:r>
                      <m:r>
                        <m:rPr>
                          <m:nor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m:rPr>
                              <m:nor/>
                            </m:rPr>
                            <m:t>𝑖</m:t>
                          </m:r>
                          <m:r>
                            <m:rPr>
                              <m:nor/>
                            </m:rPr>
                            <m:t>=</m:t>
                          </m:r>
                          <m:r>
                            <m:rPr>
                              <m:nor/>
                            </m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m:t>𝑛</m:t>
                          </m:r>
                        </m:sup>
                        <m:e>
                          <m:f>
                            <m:num>
                              <m:sSub>
                                <m:e>
                                  <m:r>
                                    <m:rPr>
                                      <m:nor/>
                                    </m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nor/>
                                </m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</mc:Choice>
              <mc:Fallback>
                <a:r>
                  <a:rPr lang="en-US" sz="1400">
                    <a:solidFill>
                      <a:srgbClr val="000000"/>
                    </a:solidFill>
                    <a:latin typeface="New Computer Modern Math"/>
                    <a:ea typeface="New Computer Modern Math"/>
                    <a:cs typeface="New Computer Modern Math"/>
                  </a:rPr>
                  <a:t>Q=∑_(i=1)ⁿ(x_i)/n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ypst">
  <a:themeElements>
    <a:clrScheme name="Typst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yps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Typst</Application>
  <PresentationFormat>Custom</PresentationFormat>
  <Slides>1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Typst</dc:creator>
  <cp:lastModifiedBy>Typst</cp:lastModifiedBy>
  <cp:revision>1</cp:revision>
  <dcterms:created xsi:type="dcterms:W3CDTF">1970-01-01T00:00:00Z</dcterms:created>
  <dcterms:modified xsi:type="dcterms:W3CDTF">1970-01-01T00:00:00Z</dcterms:modified>
</cp:coreProperties>
</file>